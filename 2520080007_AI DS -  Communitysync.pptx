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handoutMasterIdLst>
    <p:handoutMasterId r:id="rId25"/>
  </p:handoutMasterIdLst>
  <p:sldIdLst>
    <p:sldId id="314" r:id="rId3"/>
    <p:sldId id="322" r:id="rId4"/>
    <p:sldId id="323" r:id="rId5"/>
    <p:sldId id="349" r:id="rId6"/>
    <p:sldId id="266" r:id="rId7"/>
    <p:sldId id="341" r:id="rId8"/>
    <p:sldId id="342" r:id="rId9"/>
    <p:sldId id="350" r:id="rId10"/>
    <p:sldId id="343" r:id="rId11"/>
    <p:sldId id="344" r:id="rId12"/>
    <p:sldId id="345" r:id="rId13"/>
    <p:sldId id="346" r:id="rId14"/>
    <p:sldId id="340" r:id="rId15"/>
    <p:sldId id="351" r:id="rId16"/>
    <p:sldId id="352" r:id="rId17"/>
    <p:sldId id="353" r:id="rId18"/>
    <p:sldId id="354" r:id="rId19"/>
    <p:sldId id="355" r:id="rId20"/>
    <p:sldId id="347" r:id="rId21"/>
    <p:sldId id="348" r:id="rId22"/>
    <p:sldId id="33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85" autoAdjust="0"/>
    <p:restoredTop sz="95833"/>
  </p:normalViewPr>
  <p:slideViewPr>
    <p:cSldViewPr snapToGrid="0" snapToObjects="1">
      <p:cViewPr>
        <p:scale>
          <a:sx n="66" d="100"/>
          <a:sy n="66" d="100"/>
        </p:scale>
        <p:origin x="-1020" y="-38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smtClean="0">
                <a:solidFill>
                  <a:srgbClr val="0070C0"/>
                </a:solidFill>
                <a:latin typeface="+mn-lt"/>
                <a:cs typeface="Arial" panose="020B0604020202020204" pitchFamily="34" charset="0"/>
              </a:rPr>
              <a:t>TITLE: COMMUNITY- SYNC FOR DIGITAL COLLABRATION</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smtClean="0"/>
              <a:t>Harshitha Bollineni</a:t>
            </a:r>
            <a:endParaRPr lang="en-US" sz="9600" dirty="0"/>
          </a:p>
          <a:p>
            <a:pPr marL="0" indent="0" algn="ctr">
              <a:buNone/>
            </a:pPr>
            <a:r>
              <a:rPr lang="en-US" sz="9600" dirty="0"/>
              <a:t>Student ID: </a:t>
            </a:r>
            <a:r>
              <a:rPr lang="en-US" sz="9600" dirty="0" smtClean="0"/>
              <a:t>2520080007 - AI DS</a:t>
            </a:r>
            <a:endParaRPr lang="en-US" sz="2400" dirty="0"/>
          </a:p>
          <a:p>
            <a:pPr marL="0" indent="0" algn="ctr">
              <a:buNone/>
            </a:pPr>
            <a:r>
              <a:rPr lang="en-US" sz="11200" dirty="0" smtClean="0"/>
              <a:t>Cluster:4</a:t>
            </a:r>
            <a:endParaRPr lang="en-US" sz="11200" dirty="0"/>
          </a:p>
          <a:p>
            <a:pPr marL="0" indent="0" algn="ctr">
              <a:buNone/>
            </a:pPr>
            <a:r>
              <a:rPr lang="en-US" sz="11200" dirty="0" smtClean="0"/>
              <a:t>Section:15</a:t>
            </a:r>
            <a:endParaRPr lang="en-US" sz="11200" dirty="0"/>
          </a:p>
        </p:txBody>
      </p:sp>
      <p:sp>
        <p:nvSpPr>
          <p:cNvPr id="6" name="Date Placeholder 5">
            <a:extLst>
              <a:ext uri="{FF2B5EF4-FFF2-40B4-BE49-F238E27FC236}">
                <a16:creationId xmlns=""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 xmlns:a16="http://schemas.microsoft.com/office/drawing/2014/main" id="{3F9DE7D0-41AC-90DD-3065-235240261B1B}"/>
              </a:ext>
            </a:extLst>
          </p:cNvPr>
          <p:cNvSpPr txBox="1">
            <a:spLocks/>
          </p:cNvSpPr>
          <p:nvPr/>
        </p:nvSpPr>
        <p:spPr>
          <a:xfrm>
            <a:off x="619481" y="31546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a:t>
            </a:r>
            <a:r>
              <a:rPr lang="en-US" sz="8600" dirty="0" smtClean="0">
                <a:solidFill>
                  <a:srgbClr val="00B050"/>
                </a:solidFill>
              </a:rPr>
              <a:t>Name: </a:t>
            </a:r>
            <a:r>
              <a:rPr lang="en-IN" sz="8000" dirty="0" smtClean="0"/>
              <a:t>Dr . </a:t>
            </a:r>
            <a:r>
              <a:rPr lang="en-IN" sz="8000" dirty="0"/>
              <a:t>Jayaram Boga</a:t>
            </a:r>
            <a:endParaRPr lang="en-US" sz="8000" dirty="0">
              <a:solidFill>
                <a:srgbClr val="00B050"/>
              </a:solidFill>
            </a:endParaRPr>
          </a:p>
          <a:p>
            <a:pPr marL="0" indent="0" algn="ctr">
              <a:buNone/>
            </a:pPr>
            <a:r>
              <a:rPr lang="en-US" sz="8600" dirty="0" smtClean="0">
                <a:solidFill>
                  <a:srgbClr val="00B050"/>
                </a:solidFill>
              </a:rPr>
              <a:t>Assistant </a:t>
            </a:r>
            <a:r>
              <a:rPr lang="en-US" sz="8600" dirty="0">
                <a:solidFill>
                  <a:srgbClr val="00B050"/>
                </a:solidFill>
              </a:rPr>
              <a:t>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rmAutofit fontScale="92500" lnSpcReduction="10000"/>
          </a:bodyPr>
          <a:lstStyle/>
          <a:p>
            <a:pPr marL="0" indent="0">
              <a:buNone/>
            </a:pPr>
            <a:r>
              <a:rPr lang="en-US" u="sng" dirty="0" smtClean="0"/>
              <a:t>Community-Sync </a:t>
            </a:r>
            <a:r>
              <a:rPr lang="en-US" u="sng" dirty="0"/>
              <a:t>A Modern Digital Collaboration Platform for Community </a:t>
            </a:r>
            <a:r>
              <a:rPr lang="en-US" u="sng" dirty="0" smtClean="0"/>
              <a:t>Engagement:</a:t>
            </a:r>
            <a:endParaRPr lang="en-US" u="sng" dirty="0"/>
          </a:p>
          <a:p>
            <a:pPr marL="0" indent="0">
              <a:buNone/>
            </a:pPr>
            <a:r>
              <a:rPr lang="en-US" dirty="0" smtClean="0"/>
              <a:t>Community-Sync </a:t>
            </a:r>
            <a:r>
              <a:rPr lang="en-US" dirty="0"/>
              <a:t>is a modern digital collaboration platform designed to enhance community engagement through seamless communication and coordination. It brings together tools for real-time interaction, content sharing, event management, and feedback collection in one unified system. The platform supports collaboration among individuals, organizations, and community leaders. Its user-centered design ensures ease of use and accessibility. Scalable cloud-based infrastructure allows it to adapt to different community sizes. CommunitySync helps reduce information gaps and improves transparency</a:t>
            </a:r>
          </a:p>
          <a:p>
            <a:pPr marL="0" indent="0">
              <a:buNone/>
            </a:pPr>
            <a:r>
              <a:rPr lang="en-US" spc="-50" dirty="0" smtClean="0">
                <a:solidFill>
                  <a:schemeClr val="bg1"/>
                </a:solidFill>
              </a:rPr>
              <a:t>Modern </a:t>
            </a:r>
            <a:r>
              <a:rPr lang="en-US" spc="-50" dirty="0">
                <a:solidFill>
                  <a:schemeClr val="bg1"/>
                </a:solidFill>
              </a:rPr>
              <a:t>Digital Collaboration Platform for Community Engagement</a:t>
            </a:r>
          </a:p>
          <a:p>
            <a:pPr marL="0" indent="0">
              <a:buNone/>
            </a:pPr>
            <a:endParaRPr lang="en-US" dirty="0"/>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platform promotes inclusivity and sustained participation through secure and customizable features. Built-in analytics provide insights into engagement patterns and community needs. These insights support informed decision-making and strategic planning. CommunitySync strengthens trust among participants by encouraging open dialogue. It enables collaborative problem-solving across diverse groups. Ultimately, the platform supports long-term community growth and digital empowerment.</a:t>
            </a:r>
          </a:p>
          <a:p>
            <a:endParaRPr lang="en-US" dirty="0"/>
          </a:p>
        </p:txBody>
      </p:sp>
      <p:sp>
        <p:nvSpPr>
          <p:cNvPr id="4"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60421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rmAutofit/>
          </a:bodyPr>
          <a:lstStyle/>
          <a:p>
            <a:r>
              <a:rPr lang="en-US" dirty="0"/>
              <a:t>In many communities, communication and coordination are handled through separate platforms such as social media, messaging apps, and emails.</a:t>
            </a:r>
          </a:p>
          <a:p>
            <a:r>
              <a:rPr lang="en-US" dirty="0"/>
              <a:t>These systems are not centralized, which often leads to information gaps and poor coordination among members.</a:t>
            </a:r>
          </a:p>
          <a:p>
            <a:r>
              <a:rPr lang="en-US" dirty="0"/>
              <a:t>Event updates, announcements, and feedback are scattered across different channels, making it difficult for users to stay informed.</a:t>
            </a:r>
          </a:p>
          <a:p>
            <a:r>
              <a:rPr lang="en-US" dirty="0"/>
              <a:t>The lack of integrated tools reduces transparency and limits effective community participation.</a:t>
            </a:r>
          </a:p>
          <a:p>
            <a:pPr marL="457200" lvl="1" indent="-339725" algn="just"/>
            <a:endParaRPr lang="en-US" dirty="0"/>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 xmlns:a16="http://schemas.microsoft.com/office/drawing/2014/main" id="{89135224-75FA-6942-7E71-50A315519F9D}"/>
              </a:ext>
            </a:extLst>
          </p:cNvPr>
          <p:cNvSpPr>
            <a:spLocks noGrp="1"/>
          </p:cNvSpPr>
          <p:nvPr>
            <p:ph idx="1"/>
          </p:nvPr>
        </p:nvSpPr>
        <p:spPr/>
        <p:txBody>
          <a:bodyPr>
            <a:normAutofit/>
          </a:bodyPr>
          <a:lstStyle/>
          <a:p>
            <a:r>
              <a:rPr lang="en-US" dirty="0"/>
              <a:t>The proposed system, </a:t>
            </a:r>
            <a:r>
              <a:rPr lang="en-US" b="1" dirty="0"/>
              <a:t>CommunitySync</a:t>
            </a:r>
            <a:r>
              <a:rPr lang="en-US" dirty="0"/>
              <a:t>, provides a unified digital platform for community collaboration and engagement.</a:t>
            </a:r>
          </a:p>
          <a:p>
            <a:r>
              <a:rPr lang="en-US" dirty="0"/>
              <a:t>It integrates features such as real-time communication, event management, content sharing, and feedback collection in one system.</a:t>
            </a:r>
          </a:p>
          <a:p>
            <a:r>
              <a:rPr lang="en-US" dirty="0"/>
              <a:t>The platform is designed with a user-friendly interface to ensure accessibility for all community members.</a:t>
            </a:r>
          </a:p>
          <a:p>
            <a:r>
              <a:rPr lang="en-US" dirty="0"/>
              <a:t>By centralizing communication and collaboration tools, CommunitySync improves transparency, participation, and decision-making within communities.</a:t>
            </a:r>
          </a:p>
          <a:p>
            <a:endParaRPr lang="en-US" dirty="0"/>
          </a:p>
        </p:txBody>
      </p:sp>
      <p:sp>
        <p:nvSpPr>
          <p:cNvPr id="5" name="Date Placeholder 4">
            <a:extLst>
              <a:ext uri="{FF2B5EF4-FFF2-40B4-BE49-F238E27FC236}">
                <a16:creationId xmlns=""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 xmlns:a16="http://schemas.microsoft.com/office/drawing/2014/main" id="{BB15296F-156D-BE47-727B-C34C7CDD40D4}"/>
              </a:ext>
            </a:extLst>
          </p:cNvPr>
          <p:cNvSpPr>
            <a:spLocks noGrp="1"/>
          </p:cNvSpPr>
          <p:nvPr>
            <p:ph idx="1"/>
          </p:nvPr>
        </p:nvSpPr>
        <p:spPr/>
        <p:txBody>
          <a:bodyPr>
            <a:normAutofit lnSpcReduction="10000"/>
          </a:bodyPr>
          <a:lstStyle/>
          <a:p>
            <a:r>
              <a:rPr lang="en-US" dirty="0"/>
              <a:t>The system follows a </a:t>
            </a:r>
            <a:r>
              <a:rPr lang="en-US" b="1" dirty="0"/>
              <a:t>three-layer architecture consisting of the presentation layer, application layer, and data layer</a:t>
            </a:r>
            <a:r>
              <a:rPr lang="en-US" dirty="0"/>
              <a:t>.</a:t>
            </a:r>
          </a:p>
          <a:p>
            <a:r>
              <a:rPr lang="en-US" dirty="0"/>
              <a:t>The presentation layer provides the user interface where members can interact with the platform.</a:t>
            </a:r>
          </a:p>
          <a:p>
            <a:r>
              <a:rPr lang="en-US" dirty="0"/>
              <a:t>The application layer processes user requests and manages functionalities such as messaging, event management, and analytics.</a:t>
            </a:r>
          </a:p>
          <a:p>
            <a:r>
              <a:rPr lang="en-US" dirty="0"/>
              <a:t>The data layer securely stores user information, event details, and feedback data in a database.</a:t>
            </a:r>
          </a:p>
          <a:p>
            <a:r>
              <a:rPr lang="en-US" dirty="0"/>
              <a:t>Cloud-based infrastructure ensures scalability, reliability, and secure access for all users.</a:t>
            </a:r>
          </a:p>
          <a:p>
            <a:endParaRPr lang="en-US" dirty="0"/>
          </a:p>
        </p:txBody>
      </p:sp>
      <p:sp>
        <p:nvSpPr>
          <p:cNvPr id="5" name="Date Placeholder 4">
            <a:extLst>
              <a:ext uri="{FF2B5EF4-FFF2-40B4-BE49-F238E27FC236}">
                <a16:creationId xmlns=""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Architecture</a:t>
            </a:r>
            <a:endParaRPr lang="en-US" dirty="0"/>
          </a:p>
        </p:txBody>
      </p:sp>
      <p:sp>
        <p:nvSpPr>
          <p:cNvPr id="4"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8</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9833" y="1825625"/>
            <a:ext cx="6572333"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7585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p:cNvSpPr>
            <a:spLocks noGrp="1"/>
          </p:cNvSpPr>
          <p:nvPr>
            <p:ph idx="1"/>
          </p:nvPr>
        </p:nvSpPr>
        <p:spPr/>
        <p:txBody>
          <a:bodyPr>
            <a:normAutofit fontScale="85000" lnSpcReduction="20000"/>
          </a:bodyPr>
          <a:lstStyle/>
          <a:p>
            <a:r>
              <a:rPr lang="en-US" b="1" dirty="0"/>
              <a:t>1. User Management Module</a:t>
            </a:r>
            <a:r>
              <a:rPr lang="en-US" dirty="0"/>
              <a:t/>
            </a:r>
            <a:br>
              <a:rPr lang="en-US" dirty="0"/>
            </a:br>
            <a:r>
              <a:rPr lang="en-US" dirty="0"/>
              <a:t>Handles user registration, login, profile management, and role-based access for members, leaders, and administrators.</a:t>
            </a:r>
          </a:p>
          <a:p>
            <a:r>
              <a:rPr lang="en-US" b="1" dirty="0"/>
              <a:t>2. Communication Module</a:t>
            </a:r>
            <a:r>
              <a:rPr lang="en-US" dirty="0"/>
              <a:t/>
            </a:r>
            <a:br>
              <a:rPr lang="en-US" dirty="0"/>
            </a:br>
            <a:r>
              <a:rPr lang="en-US" dirty="0"/>
              <a:t>Enables real-time interaction, announcements, and discussions among community members.</a:t>
            </a:r>
          </a:p>
          <a:p>
            <a:r>
              <a:rPr lang="en-US" b="1" dirty="0"/>
              <a:t>3. Event Management Module</a:t>
            </a:r>
            <a:r>
              <a:rPr lang="en-US" dirty="0"/>
              <a:t/>
            </a:r>
            <a:br>
              <a:rPr lang="en-US" dirty="0"/>
            </a:br>
            <a:r>
              <a:rPr lang="en-US" dirty="0"/>
              <a:t>Allows users to create, manage, and view community events and activities.</a:t>
            </a:r>
          </a:p>
          <a:p>
            <a:r>
              <a:rPr lang="en-US" b="1" dirty="0"/>
              <a:t>4. Content &amp; Feedback Module</a:t>
            </a:r>
            <a:r>
              <a:rPr lang="en-US" dirty="0"/>
              <a:t/>
            </a:r>
            <a:br>
              <a:rPr lang="en-US" dirty="0"/>
            </a:br>
            <a:r>
              <a:rPr lang="en-US" dirty="0"/>
              <a:t>Supports sharing of posts, documents, and collecting feedback or suggestions from users.</a:t>
            </a:r>
          </a:p>
          <a:p>
            <a:r>
              <a:rPr lang="en-US" b="1" dirty="0"/>
              <a:t>5. Analytics &amp; Security Module</a:t>
            </a:r>
            <a:r>
              <a:rPr lang="en-US" dirty="0"/>
              <a:t/>
            </a:r>
            <a:br>
              <a:rPr lang="en-US" dirty="0"/>
            </a:br>
            <a:r>
              <a:rPr lang="en-US" dirty="0"/>
              <a:t>Provides engagement reports, data analysis, and ensures secure access and data protection</a:t>
            </a:r>
          </a:p>
          <a:p>
            <a:endParaRPr lang="en-US" dirty="0"/>
          </a:p>
        </p:txBody>
      </p:sp>
    </p:spTree>
    <p:extLst>
      <p:ext uri="{BB962C8B-B14F-4D97-AF65-F5344CB8AC3E}">
        <p14:creationId xmlns:p14="http://schemas.microsoft.com/office/powerpoint/2010/main" val="407296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 xmlns:a16="http://schemas.microsoft.com/office/drawing/2014/main" id="{363C44B8-E8B6-5D9D-90FF-ECD825D72DFC}"/>
              </a:ext>
            </a:extLst>
          </p:cNvPr>
          <p:cNvSpPr>
            <a:spLocks noGrp="1"/>
          </p:cNvSpPr>
          <p:nvPr>
            <p:ph idx="1"/>
          </p:nvPr>
        </p:nvSpPr>
        <p:spPr/>
        <p:txBody>
          <a:bodyPr>
            <a:normAutofit lnSpcReduction="10000"/>
          </a:bodyPr>
          <a:lstStyle/>
          <a:p>
            <a:r>
              <a:rPr lang="en-US" b="1" dirty="0"/>
              <a:t>To develop a unified digital platform</a:t>
            </a:r>
            <a:r>
              <a:rPr lang="en-US" dirty="0"/>
              <a:t> that improves communication and collaboration within communities.</a:t>
            </a:r>
          </a:p>
          <a:p>
            <a:r>
              <a:rPr lang="en-US" b="1" dirty="0"/>
              <a:t>To provide tools for event management and content sharing</a:t>
            </a:r>
            <a:r>
              <a:rPr lang="en-US" dirty="0"/>
              <a:t> to keep community members informed and engaged.</a:t>
            </a:r>
          </a:p>
          <a:p>
            <a:r>
              <a:rPr lang="en-US" b="1" dirty="0"/>
              <a:t>To enable real-time interaction and feedback collection</a:t>
            </a:r>
            <a:r>
              <a:rPr lang="en-US" dirty="0"/>
              <a:t> for better participation and communication.</a:t>
            </a:r>
          </a:p>
          <a:p>
            <a:r>
              <a:rPr lang="en-US" b="1" dirty="0"/>
              <a:t>To analyze community engagement through analytics</a:t>
            </a:r>
            <a:r>
              <a:rPr lang="en-US" dirty="0"/>
              <a:t> to support informed decision-making.</a:t>
            </a:r>
          </a:p>
          <a:p>
            <a:r>
              <a:rPr lang="en-US" b="1" dirty="0"/>
              <a:t>To ensure a secure, scalable, and user-friendly system</a:t>
            </a:r>
            <a:r>
              <a:rPr lang="en-US" dirty="0"/>
              <a:t> that supports long-term community growth.</a:t>
            </a:r>
          </a:p>
          <a:p>
            <a:endParaRPr lang="en-US" dirty="0"/>
          </a:p>
        </p:txBody>
      </p:sp>
      <p:sp>
        <p:nvSpPr>
          <p:cNvPr id="5" name="Date Placeholder 4">
            <a:extLst>
              <a:ext uri="{FF2B5EF4-FFF2-40B4-BE49-F238E27FC236}">
                <a16:creationId xmlns=""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26398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 xmlns:a16="http://schemas.microsoft.com/office/drawing/2014/main" id="{8769557B-A6AB-F48D-9A16-51F755A17BB7}"/>
              </a:ext>
            </a:extLst>
          </p:cNvPr>
          <p:cNvSpPr>
            <a:spLocks noGrp="1"/>
          </p:cNvSpPr>
          <p:nvPr>
            <p:ph idx="1"/>
          </p:nvPr>
        </p:nvSpPr>
        <p:spPr/>
        <p:txBody>
          <a:bodyPr>
            <a:normAutofit/>
          </a:bodyPr>
          <a:lstStyle/>
          <a:p>
            <a:r>
              <a:rPr lang="en-US" dirty="0"/>
              <a:t>CO1: Understanding HTML structure and CSS styling.</a:t>
            </a:r>
          </a:p>
          <a:p>
            <a:r>
              <a:rPr lang="en-US" dirty="0"/>
              <a:t>CO2: Designing responsive layouts using CSS.</a:t>
            </a:r>
          </a:p>
          <a:p>
            <a:r>
              <a:rPr lang="en-US" dirty="0"/>
              <a:t>CO3: Implementing JavaScript logic and functions.</a:t>
            </a:r>
          </a:p>
          <a:p>
            <a:r>
              <a:rPr lang="en-US" dirty="0"/>
              <a:t>CO4: Using DOM manipulation for dynamic content.</a:t>
            </a:r>
          </a:p>
          <a:p>
            <a:r>
              <a:rPr lang="en-US" dirty="0"/>
              <a:t>CO5: Building complete interactive web applications.</a:t>
            </a:r>
          </a:p>
          <a:p>
            <a:pPr marL="0" indent="0">
              <a:buNone/>
            </a:pPr>
            <a:endParaRPr lang="en-US" dirty="0"/>
          </a:p>
        </p:txBody>
      </p:sp>
      <p:sp>
        <p:nvSpPr>
          <p:cNvPr id="5" name="Date Placeholder 4">
            <a:extLst>
              <a:ext uri="{FF2B5EF4-FFF2-40B4-BE49-F238E27FC236}">
                <a16:creationId xmlns=""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0694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 xmlns:a16="http://schemas.microsoft.com/office/drawing/2014/main" id="{6726AE93-69A8-DC85-DA45-05F4D66EF996}"/>
              </a:ext>
            </a:extLst>
          </p:cNvPr>
          <p:cNvSpPr>
            <a:spLocks noGrp="1"/>
          </p:cNvSpPr>
          <p:nvPr>
            <p:ph idx="1"/>
          </p:nvPr>
        </p:nvSpPr>
        <p:spPr/>
        <p:txBody>
          <a:bodyPr>
            <a:normAutofit fontScale="70000" lnSpcReduction="20000"/>
          </a:bodyPr>
          <a:lstStyle/>
          <a:p>
            <a:r>
              <a:rPr lang="en-US" b="1" dirty="0"/>
              <a:t>CO Attainments – DSA</a:t>
            </a:r>
            <a:endParaRPr lang="en-US" b="1" dirty="0">
              <a:ea typeface="Calibri"/>
              <a:cs typeface="Calibri"/>
            </a:endParaRPr>
          </a:p>
          <a:p>
            <a:r>
              <a:rPr lang="en-US" sz="3200" b="1" dirty="0"/>
              <a:t>CO1 – Searching &amp; Sorting:</a:t>
            </a:r>
            <a:r>
              <a:rPr lang="en-US" sz="3200" dirty="0"/>
              <a:t> Attained by implementing Binary Search O(log n) to find events by ID and Merge Sort O(n log n) to alphabetically sort events and attendees, demonstrating algorithm analysis and divide-and-conquer strategy.</a:t>
            </a:r>
          </a:p>
          <a:p>
            <a:r>
              <a:rPr lang="en-US" sz="3200" b="1" dirty="0"/>
              <a:t>CO2 – Lists:</a:t>
            </a:r>
            <a:r>
              <a:rPr lang="en-US" sz="3200" dirty="0"/>
              <a:t> Attained by building a custom Singly Linked List (PersonList) to store registered attendees per event, demonstrating List ADT, node traversal, linear search for duplicate detection, and dynamic data management.</a:t>
            </a:r>
          </a:p>
          <a:p>
            <a:r>
              <a:rPr lang="en-US" sz="3200" b="1" dirty="0"/>
              <a:t>CO3 – Stacks &amp; Queues:</a:t>
            </a:r>
            <a:r>
              <a:rPr lang="en-US" sz="3200" dirty="0"/>
              <a:t> Attained by implementing a Linked Stack (ActionStack) for LIFO-based undo logging and a Linked Queue (WaitlistQueue) for FIFO-based waitlist management when events reach full capacity.</a:t>
            </a:r>
          </a:p>
          <a:p>
            <a:r>
              <a:rPr lang="en-US" sz="3200" b="1" dirty="0"/>
              <a:t>CO4 – Hashing &amp; Trees:</a:t>
            </a:r>
            <a:r>
              <a:rPr lang="en-US" sz="3200" dirty="0"/>
              <a:t> Attained by implementing a Hash Table with Separate Chaining (EventHashTable) for O(1) average event storage and retrieval, and a Binary Min-Heap (PriorityBoardingHeap) for priority-based boarding order with VIP-first extraction.</a:t>
            </a:r>
          </a:p>
          <a:p>
            <a:pPr marL="0" lvl="0" indent="0" eaLnBrk="0" fontAlgn="base" hangingPunct="0">
              <a:lnSpc>
                <a:spcPct val="100000"/>
              </a:lnSpc>
              <a:spcBef>
                <a:spcPct val="0"/>
              </a:spcBef>
              <a:spcAft>
                <a:spcPct val="0"/>
              </a:spcAft>
              <a:buFontTx/>
              <a:buChar char="•"/>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Date Placeholder 4">
            <a:extLst>
              <a:ext uri="{FF2B5EF4-FFF2-40B4-BE49-F238E27FC236}">
                <a16:creationId xmlns=""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4436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323D68-D41B-9825-3931-B79590C795F8}"/>
              </a:ext>
            </a:extLst>
          </p:cNvPr>
          <p:cNvSpPr>
            <a:spLocks noGrp="1"/>
          </p:cNvSpPr>
          <p:nvPr>
            <p:ph type="title"/>
          </p:nvPr>
        </p:nvSpPr>
        <p:spPr>
          <a:xfrm>
            <a:off x="3352800" y="-84062"/>
            <a:ext cx="10515600" cy="1325563"/>
          </a:xfrm>
        </p:spPr>
        <p:txBody>
          <a:bodyPr/>
          <a:lstStyle/>
          <a:p>
            <a:r>
              <a:rPr lang="en-US" dirty="0"/>
              <a:t>Screenshots for FWD </a:t>
            </a:r>
          </a:p>
        </p:txBody>
      </p:sp>
      <p:sp>
        <p:nvSpPr>
          <p:cNvPr id="4" name="Date Placeholder 3">
            <a:extLst>
              <a:ext uri="{FF2B5EF4-FFF2-40B4-BE49-F238E27FC236}">
                <a16:creationId xmlns=""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523" y="1185252"/>
            <a:ext cx="4511334" cy="2553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96423" y="1185252"/>
            <a:ext cx="4828353" cy="2497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286656" y="862086"/>
            <a:ext cx="9945913" cy="646331"/>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CO1 – HTML Structure &amp; Basic CSS</a:t>
            </a:r>
          </a:p>
          <a:p>
            <a:endParaRPr lang="en-US" dirty="0"/>
          </a:p>
        </p:txBody>
      </p:sp>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657" y="4086708"/>
            <a:ext cx="4283755" cy="265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080" y="4086707"/>
            <a:ext cx="4673603" cy="263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7770131" y="3763542"/>
            <a:ext cx="4924877"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CO2 – </a:t>
            </a:r>
            <a:r>
              <a:rPr lang="en-IN" dirty="0">
                <a:latin typeface="Times New Roman" panose="02020603050405020304" pitchFamily="18" charset="0"/>
                <a:cs typeface="Times New Roman" panose="02020603050405020304" pitchFamily="18" charset="0"/>
              </a:rPr>
              <a:t>HTML Forms &amp; Input Handling</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9428" y="-43543"/>
            <a:ext cx="10515600" cy="1325563"/>
          </a:xfrm>
        </p:spPr>
        <p:txBody>
          <a:bodyPr/>
          <a:lstStyle/>
          <a:p>
            <a:r>
              <a:rPr lang="en-US" dirty="0"/>
              <a:t>Screenshots for FWD </a:t>
            </a:r>
          </a:p>
        </p:txBody>
      </p:sp>
      <p:sp>
        <p:nvSpPr>
          <p:cNvPr id="4"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14</a:t>
            </a:fld>
            <a:endParaRPr lang="en-US"/>
          </a:p>
        </p:txBody>
      </p:sp>
      <p:sp>
        <p:nvSpPr>
          <p:cNvPr id="7" name="TextBox 6"/>
          <p:cNvSpPr txBox="1"/>
          <p:nvPr/>
        </p:nvSpPr>
        <p:spPr>
          <a:xfrm>
            <a:off x="838200" y="1088571"/>
            <a:ext cx="4314371"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CO3 – </a:t>
            </a:r>
            <a:r>
              <a:rPr lang="en-IN" dirty="0">
                <a:latin typeface="Times New Roman" panose="02020603050405020304" pitchFamily="18" charset="0"/>
                <a:cs typeface="Times New Roman" panose="02020603050405020304" pitchFamily="18" charset="0"/>
              </a:rPr>
              <a:t>JavaScript Programming Concepts</a:t>
            </a:r>
            <a:endParaRPr lang="en-US" dirty="0">
              <a:latin typeface="Times New Roman" panose="02020603050405020304" pitchFamily="18" charset="0"/>
              <a:cs typeface="Times New Roman" panose="02020603050405020304" pitchFamily="18" charset="0"/>
            </a:endParaRP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833" y="1671868"/>
            <a:ext cx="5473189" cy="4014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398657" y="1088571"/>
            <a:ext cx="3768980"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CO4 – </a:t>
            </a:r>
            <a:r>
              <a:rPr lang="en-IN" dirty="0">
                <a:latin typeface="Times New Roman" panose="02020603050405020304" pitchFamily="18" charset="0"/>
                <a:cs typeface="Times New Roman" panose="02020603050405020304" pitchFamily="18" charset="0"/>
              </a:rPr>
              <a:t>JavaScript DOM Manipulation</a:t>
            </a:r>
            <a:r>
              <a:rPr lang="en-US" dirty="0">
                <a:latin typeface="Times New Roman" panose="02020603050405020304" pitchFamily="18" charset="0"/>
                <a:cs typeface="Times New Roman" panose="02020603050405020304" pitchFamily="18" charset="0"/>
              </a:rPr>
              <a:t> </a:t>
            </a:r>
          </a:p>
          <a:p>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775" y="1608835"/>
            <a:ext cx="5591882" cy="4077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0786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26760"/>
            <a:ext cx="10515600" cy="1325563"/>
          </a:xfrm>
        </p:spPr>
        <p:txBody>
          <a:bodyPr/>
          <a:lstStyle/>
          <a:p>
            <a:r>
              <a:rPr lang="en-US" dirty="0"/>
              <a:t>Screenshots for FWD </a:t>
            </a:r>
          </a:p>
        </p:txBody>
      </p:sp>
      <p:sp>
        <p:nvSpPr>
          <p:cNvPr id="4"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15</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056" y="2249715"/>
            <a:ext cx="5713851" cy="2901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262740" y="1036874"/>
            <a:ext cx="4220964" cy="646331"/>
          </a:xfrm>
          <a:prstGeom prst="rect">
            <a:avLst/>
          </a:prstGeom>
          <a:noFill/>
        </p:spPr>
        <p:txBody>
          <a:bodyPr wrap="none" rtlCol="0">
            <a:spAutoFit/>
          </a:bodyPr>
          <a:lstStyle/>
          <a:p>
            <a:r>
              <a:rPr lang="en-US" dirty="0">
                <a:latin typeface="Times New Roman" pitchFamily="18" charset="0"/>
                <a:cs typeface="Times New Roman" pitchFamily="18" charset="0"/>
              </a:rPr>
              <a:t>CO5 – Advanced Web Application Features</a:t>
            </a:r>
            <a:endParaRPr lang="en-IN"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3813" y="1999948"/>
            <a:ext cx="5463267" cy="3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3535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39007"/>
            <a:ext cx="10515600" cy="1325563"/>
          </a:xfrm>
        </p:spPr>
        <p:txBody>
          <a:bodyPr/>
          <a:lstStyle/>
          <a:p>
            <a:r>
              <a:rPr lang="en-US" dirty="0"/>
              <a:t>Screenshots </a:t>
            </a:r>
            <a:r>
              <a:rPr lang="en-US" dirty="0" smtClean="0"/>
              <a:t>for DSA</a:t>
            </a:r>
            <a:endParaRPr lang="en-US" dirty="0"/>
          </a:p>
        </p:txBody>
      </p:sp>
      <p:sp>
        <p:nvSpPr>
          <p:cNvPr id="4" name="Date Placeholder 3"/>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p:cNvSpPr>
            <a:spLocks noGrp="1"/>
          </p:cNvSpPr>
          <p:nvPr>
            <p:ph type="ftr" sz="quarter" idx="11"/>
          </p:nvPr>
        </p:nvSpPr>
        <p:spPr/>
        <p:txBody>
          <a:bodyPr/>
          <a:lstStyle/>
          <a:p>
            <a:r>
              <a:rPr lang="en-US" dirty="0" smtClean="0"/>
              <a:t>0th REVIEW         173030211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t>16</a:t>
            </a:fld>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4253" y="1337355"/>
            <a:ext cx="4269147" cy="2429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8125" y="1286557"/>
            <a:ext cx="4455332" cy="247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206" y="4194629"/>
            <a:ext cx="4267851" cy="2526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8096" y="4194629"/>
            <a:ext cx="4332061" cy="2526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33400" y="850681"/>
            <a:ext cx="8218714" cy="369332"/>
          </a:xfrm>
          <a:prstGeom prst="rect">
            <a:avLst/>
          </a:prstGeom>
        </p:spPr>
        <p:txBody>
          <a:bodyPr wrap="square">
            <a:spAutoFit/>
          </a:bodyPr>
          <a:lstStyle/>
          <a:p>
            <a:pPr lvl="0">
              <a:tabLst>
                <a:tab pos="228600" algn="l"/>
                <a:tab pos="228600" algn="l"/>
                <a:tab pos="282575" algn="l"/>
                <a:tab pos="339725" algn="l"/>
              </a:tabLst>
            </a:pPr>
            <a:r>
              <a:rPr lang="en-US" dirty="0">
                <a:latin typeface="Times New Roman" panose="02020603050405020304" pitchFamily="18" charset="0"/>
                <a:cs typeface="Times New Roman" panose="02020603050405020304" pitchFamily="18" charset="0"/>
              </a:rPr>
              <a:t>CO1 – </a:t>
            </a:r>
            <a:r>
              <a:rPr lang="en-IN" dirty="0">
                <a:latin typeface="Times New Roman" panose="02020603050405020304" pitchFamily="18" charset="0"/>
                <a:cs typeface="Times New Roman" panose="02020603050405020304" pitchFamily="18" charset="0"/>
              </a:rPr>
              <a:t>Algorithm Implementation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Searching / Efficiency Concept)</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533400" y="3766456"/>
            <a:ext cx="2809552" cy="369332"/>
          </a:xfrm>
          <a:prstGeom prst="rect">
            <a:avLst/>
          </a:prstGeom>
        </p:spPr>
        <p:txBody>
          <a:bodyPr wrap="none">
            <a:spAutoFit/>
          </a:bodyPr>
          <a:lstStyle/>
          <a:p>
            <a:pPr algn="just">
              <a:tabLst>
                <a:tab pos="228600" algn="l"/>
                <a:tab pos="228600" algn="l"/>
                <a:tab pos="282575" algn="l"/>
                <a:tab pos="339725" algn="l"/>
              </a:tabLst>
            </a:pPr>
            <a:r>
              <a:rPr lang="en-US" dirty="0">
                <a:latin typeface="Times New Roman" panose="02020603050405020304" pitchFamily="18" charset="0"/>
                <a:cs typeface="Times New Roman" panose="02020603050405020304" pitchFamily="18" charset="0"/>
              </a:rPr>
              <a:t>CO2 – </a:t>
            </a:r>
            <a:r>
              <a:rPr lang="en-IN" dirty="0">
                <a:latin typeface="Times New Roman" panose="02020603050405020304" pitchFamily="18" charset="0"/>
                <a:cs typeface="Times New Roman" panose="02020603050405020304" pitchFamily="18" charset="0"/>
              </a:rPr>
              <a:t>ADT using ArrayList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5466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171903"/>
            <a:ext cx="10515600" cy="1325563"/>
          </a:xfrm>
        </p:spPr>
        <p:txBody>
          <a:bodyPr/>
          <a:lstStyle/>
          <a:p>
            <a:r>
              <a:rPr lang="en-US" dirty="0"/>
              <a:t>Screenshots for DSA</a:t>
            </a:r>
          </a:p>
        </p:txBody>
      </p:sp>
      <p:sp>
        <p:nvSpPr>
          <p:cNvPr id="4" name="Date Placeholder 3"/>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17</a:t>
            </a:fld>
            <a:endParaRPr lang="en-US"/>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27909"/>
            <a:ext cx="4947897" cy="4947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3757" y="1690688"/>
            <a:ext cx="4633685" cy="4985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33307" y="1005671"/>
            <a:ext cx="3922869" cy="369332"/>
          </a:xfrm>
          <a:prstGeom prst="rect">
            <a:avLst/>
          </a:prstGeom>
        </p:spPr>
        <p:txBody>
          <a:bodyPr wrap="none">
            <a:spAutoFit/>
          </a:bodyPr>
          <a:lstStyle/>
          <a:p>
            <a:pPr>
              <a:tabLst>
                <a:tab pos="228600" algn="l"/>
                <a:tab pos="228600" algn="l"/>
                <a:tab pos="282575" algn="l"/>
                <a:tab pos="339725" algn="l"/>
              </a:tabLst>
            </a:pPr>
            <a:r>
              <a:rPr lang="en-US" dirty="0">
                <a:latin typeface="Times New Roman" panose="02020603050405020304" pitchFamily="18" charset="0"/>
                <a:cs typeface="Times New Roman" panose="02020603050405020304" pitchFamily="18" charset="0"/>
              </a:rPr>
              <a:t>CO3 – </a:t>
            </a:r>
            <a:r>
              <a:rPr lang="en-IN" dirty="0">
                <a:latin typeface="Times New Roman" panose="02020603050405020304" pitchFamily="18" charset="0"/>
                <a:cs typeface="Times New Roman" panose="02020603050405020304" pitchFamily="18" charset="0"/>
              </a:rPr>
              <a:t>Linear Data Structure Operations</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6883204" y="1005671"/>
            <a:ext cx="3454792" cy="369332"/>
          </a:xfrm>
          <a:prstGeom prst="rect">
            <a:avLst/>
          </a:prstGeom>
        </p:spPr>
        <p:txBody>
          <a:bodyPr wrap="none">
            <a:spAutoFit/>
          </a:bodyPr>
          <a:lstStyle/>
          <a:p>
            <a:pPr>
              <a:tabLst>
                <a:tab pos="228600" algn="l"/>
                <a:tab pos="228600" algn="l"/>
                <a:tab pos="282575" algn="l"/>
                <a:tab pos="339725" algn="l"/>
              </a:tabLst>
            </a:pPr>
            <a:r>
              <a:rPr lang="en-US" dirty="0">
                <a:latin typeface="Times New Roman" panose="02020603050405020304" pitchFamily="18" charset="0"/>
                <a:cs typeface="Times New Roman" panose="02020603050405020304" pitchFamily="18" charset="0"/>
              </a:rPr>
              <a:t>CO4 – </a:t>
            </a:r>
            <a:r>
              <a:rPr lang="en-IN" dirty="0">
                <a:latin typeface="Times New Roman" panose="02020603050405020304" pitchFamily="18" charset="0"/>
                <a:cs typeface="Times New Roman" panose="02020603050405020304" pitchFamily="18" charset="0"/>
              </a:rPr>
              <a:t>Hash-Based Data Structures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6124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0"/>
            <a:ext cx="10515600" cy="1325563"/>
          </a:xfrm>
        </p:spPr>
        <p:txBody>
          <a:bodyPr/>
          <a:lstStyle/>
          <a:p>
            <a:pPr>
              <a:spcBef>
                <a:spcPts val="0"/>
              </a:spcBef>
              <a:tabLst>
                <a:tab pos="228600" algn="l"/>
                <a:tab pos="228600" algn="l"/>
                <a:tab pos="282575" algn="l"/>
                <a:tab pos="339725" algn="l"/>
              </a:tabLst>
            </a:pPr>
            <a:r>
              <a:rPr lang="en-US" dirty="0"/>
              <a:t>Screenshots for DSA</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18</a:t>
            </a:fld>
            <a:endParaRPr lang="en-US"/>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7614" y="1763488"/>
            <a:ext cx="7441186" cy="4798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103086" y="1325563"/>
            <a:ext cx="1022331" cy="369332"/>
          </a:xfrm>
          <a:prstGeom prst="rect">
            <a:avLst/>
          </a:prstGeom>
          <a:noFill/>
        </p:spPr>
        <p:txBody>
          <a:bodyPr wrap="none" rtlCol="0">
            <a:spAutoFit/>
          </a:bodyPr>
          <a:lstStyle/>
          <a:p>
            <a:r>
              <a:rPr lang="en-US" dirty="0" smtClean="0"/>
              <a:t>OUTPUT:</a:t>
            </a:r>
            <a:endParaRPr lang="en-US" dirty="0"/>
          </a:p>
        </p:txBody>
      </p:sp>
    </p:spTree>
    <p:extLst>
      <p:ext uri="{BB962C8B-B14F-4D97-AF65-F5344CB8AC3E}">
        <p14:creationId xmlns:p14="http://schemas.microsoft.com/office/powerpoint/2010/main" val="3665965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 xmlns:a16="http://schemas.microsoft.com/office/drawing/2014/main" id="{956E9376-CB4B-895B-7B5C-D2F5AAED7494}"/>
              </a:ext>
            </a:extLst>
          </p:cNvPr>
          <p:cNvSpPr>
            <a:spLocks noGrp="1"/>
          </p:cNvSpPr>
          <p:nvPr>
            <p:ph idx="1"/>
          </p:nvPr>
        </p:nvSpPr>
        <p:spPr/>
        <p:txBody>
          <a:bodyPr>
            <a:normAutofit/>
          </a:bodyPr>
          <a:lstStyle/>
          <a:p>
            <a:pPr marL="0" indent="0">
              <a:buNone/>
            </a:pPr>
            <a:r>
              <a:rPr lang="en-US" dirty="0"/>
              <a:t>CommunitySync provides a modern digital solution to improve community engagement and collaboration. By integrating communication, event management, content sharing, and feedback collection into a single platform, it simplifies how communities interact and coordinate. The system promotes transparency, inclusivity, and active participation among members. With its scalable and secure architecture, CommunitySync can support communities of different sizes and needs. Overall, the platform contributes to stronger connections, better decision-making, and sustainable community development. It ultimately empowers communities to work together more effectively in the digital era.</a:t>
            </a:r>
            <a:endParaRPr lang="en-US" dirty="0"/>
          </a:p>
        </p:txBody>
      </p:sp>
      <p:sp>
        <p:nvSpPr>
          <p:cNvPr id="5" name="Date Placeholder 4">
            <a:extLst>
              <a:ext uri="{FF2B5EF4-FFF2-40B4-BE49-F238E27FC236}">
                <a16:creationId xmlns=""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19</a:t>
            </a:fld>
            <a:endParaRPr lang="en-US"/>
          </a:p>
        </p:txBody>
      </p:sp>
    </p:spTree>
    <p:extLst>
      <p:ext uri="{BB962C8B-B14F-4D97-AF65-F5344CB8AC3E}">
        <p14:creationId xmlns:p14="http://schemas.microsoft.com/office/powerpoint/2010/main" val="2858912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20</a:t>
            </a:fld>
            <a:endParaRPr lang="en-US"/>
          </a:p>
        </p:txBody>
      </p:sp>
      <p:pic>
        <p:nvPicPr>
          <p:cNvPr id="11" name="Content Placeholder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3793" y="2085922"/>
            <a:ext cx="4675213" cy="283868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6572" y="2085922"/>
            <a:ext cx="4677227" cy="2838681"/>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21</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4681</TotalTime>
  <Words>1091</Words>
  <Application>Microsoft Office PowerPoint</Application>
  <PresentationFormat>Custom</PresentationFormat>
  <Paragraphs>157</Paragraphs>
  <Slides>21</Slides>
  <Notes>0</Notes>
  <HiddenSlides>0</HiddenSlides>
  <MMClips>0</MMClip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Office Theme</vt:lpstr>
      <vt:lpstr>Custom Design</vt:lpstr>
      <vt:lpstr>TITLE: COMMUNITY- SYNC FOR DIGITAL COLLABRATION</vt:lpstr>
      <vt:lpstr>OUTLINE</vt:lpstr>
      <vt:lpstr>Abstract</vt:lpstr>
      <vt:lpstr>PowerPoint Presentation</vt:lpstr>
      <vt:lpstr>Existing System </vt:lpstr>
      <vt:lpstr>Proposed System</vt:lpstr>
      <vt:lpstr>System Architecture</vt:lpstr>
      <vt:lpstr>System Architecture</vt:lpstr>
      <vt:lpstr>Project Modules</vt:lpstr>
      <vt:lpstr>Objectives</vt:lpstr>
      <vt:lpstr>Co’s Attainments - FWD</vt:lpstr>
      <vt:lpstr>Co’s Attainments - DSA</vt:lpstr>
      <vt:lpstr>Screenshots for FWD </vt:lpstr>
      <vt:lpstr>Screenshots for FWD </vt:lpstr>
      <vt:lpstr>Screenshots for FWD </vt:lpstr>
      <vt:lpstr>Screenshots for DSA</vt:lpstr>
      <vt:lpstr>Screenshots for DSA</vt:lpstr>
      <vt:lpstr>Screenshots for DSA</vt:lpstr>
      <vt:lpstr>Conclusion</vt:lpstr>
      <vt:lpstr>Geo- Tag Photos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Harshitha Bollineni</cp:lastModifiedBy>
  <cp:revision>67</cp:revision>
  <dcterms:created xsi:type="dcterms:W3CDTF">2022-05-20T10:20:31Z</dcterms:created>
  <dcterms:modified xsi:type="dcterms:W3CDTF">2026-03-10T01:32:35Z</dcterms:modified>
</cp:coreProperties>
</file>